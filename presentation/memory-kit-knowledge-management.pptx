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 min · 0:00 – 4:00]</a:t>
            </a:r>
          </a:p>
          <a:p/>
          <a:p>
            <a:r>
              <a:t>OPENING HOOK</a:t>
            </a:r>
          </a:p>
          <a:p>
            <a:r>
              <a:t>Quick show of hands: who has lost a productive agent session to a context reset — or to a compaction that kept the wrong things?</a:t>
            </a:r>
          </a:p>
          <a:p/>
          <a:p>
            <a:r>
              <a:t>ORIGIN</a:t>
            </a:r>
          </a:p>
          <a:p>
            <a:r>
              <a:t>memory-kit came out of building a web app from scratch with Codex and Claude agents. Two observations:</a:t>
            </a:r>
          </a:p>
          <a:p>
            <a:r>
              <a:t>1. Agents are eager to produce new code, but weak at thinking first — gathering what is already known before deciding.</a:t>
            </a:r>
          </a:p>
          <a:p>
            <a:r>
              <a:t>2. The chat window is a poor place to keep knowledge: it grows fast, gets dirty while iterating, and compaction shrinks it without guaranteeing it keeps only what matters.</a:t>
            </a:r>
          </a:p>
          <a:p>
            <a:r>
              <a:t>The question became: how do we move knowledge out of the chat into a durable, organized memory — and force agents to use it?</a:t>
            </a:r>
          </a:p>
          <a:p/>
          <a:p>
            <a:r>
              <a:t>THE FOUR NUMBERS</a:t>
            </a:r>
          </a:p>
          <a:p>
            <a:r>
              <a:t>- 1 file: MEMORY.md defines the model, the rules and the verbs. One source of truth, no drift.</a:t>
            </a:r>
          </a:p>
          <a:p>
            <a:r>
              <a:t>- 4 levels: from hot/raw scratch notes to cold/curated docs.</a:t>
            </a:r>
          </a:p>
          <a:p>
            <a:r>
              <a:t>- 3 verbs: capture, recall, curate.</a:t>
            </a:r>
          </a:p>
          <a:p>
            <a:r>
              <a:t>- 0 dependencies: plain Markdown, works with Copilot, Claude Code, Cursor, Aider — about one minute to install.</a:t>
            </a:r>
          </a:p>
          <a:p/>
          <a:p>
            <a:r>
              <a:t>VALUE</a:t>
            </a:r>
          </a:p>
          <a:p>
            <a:r>
              <a:t>Less noise and fewer tokens; dead ends are preserved so we do not repeat them; and the memory becomes the interface between humans and agents.</a:t>
            </a:r>
          </a:p>
          <a:p/>
          <a:p>
            <a:r>
              <a:t>Leave the provocative thought on screen — we come back to 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[~5.5 min · 4:00 – 9:30]</a:t>
            </a:r>
          </a:p>
          <a:p/>
          <a:p>
            <a:r>
              <a:t>THE ARROW</a:t>
            </a:r>
          </a:p>
          <a:p>
            <a:r>
              <a:t>Read it left to right: knowledge starts hot and raw, and cools down as it gets validated.</a:t>
            </a:r>
          </a:p>
          <a:p/>
          <a:p>
            <a:r>
              <a:t>THE FOUR LEVELS</a:t>
            </a:r>
          </a:p>
          <a:p>
            <a:r>
              <a:t>- L0 Scratchpad: raw dumps, git-ignored, cheap to write. "Capture fast, curate later."</a:t>
            </a:r>
          </a:p>
          <a:p>
            <a:r>
              <a:t>- L1 Task memory: what is still useful for the current task; cleaned when the task ends.</a:t>
            </a:r>
          </a:p>
          <a:p>
            <a:r>
              <a:t>- L2 Module memory: lives beside the code; durable lessons for one module, including known failures.</a:t>
            </a:r>
          </a:p>
          <a:p>
            <a:r>
              <a:t>- L3 Global memory: curated, cross-cutting docs. Can be HTML — this is the level humans read.</a:t>
            </a:r>
          </a:p>
          <a:p/>
          <a:p>
            <a:r>
              <a:t>ILLUSTRATIVE EXAMPLE (token-refresh bug)</a:t>
            </a:r>
          </a:p>
          <a:p>
            <a:r>
              <a:t>L0 gets the raw attempts and stack traces. L1 keeps "approach B works, A fails because of X". L2_auth.md keeps "known failure: don't do A". The L3 architecture doc records the final token-rotation design.</a:t>
            </a:r>
          </a:p>
          <a:p/>
          <a:p>
            <a:r>
              <a:t>THREE RULES MAKE IT WORK</a:t>
            </a:r>
          </a:p>
          <a:p>
            <a:r>
              <a:t>1. Promotion must be earned: validated, reusable, stable, not contradicted. Speculation stays hot.</a:t>
            </a:r>
          </a:p>
          <a:p>
            <a:r>
              <a:t>2. Authority is explicit: L3 &gt; L2 &gt; L1 &gt; L0 &gt; Chat. Chat is never authoritative until validated against files. If docs and code disagree, trust the running code, then propose a docs fix.</a:t>
            </a:r>
          </a:p>
          <a:p>
            <a:r>
              <a:t>3. Cleanup over accumulation: stale, duplicated notes are liabilities. But failures are valuable — anti-patterns are relocated as known failures, never silently deleted.</a:t>
            </a:r>
          </a:p>
          <a:p/>
          <a:p>
            <a:r>
              <a:t>TOKEN ANGLE</a:t>
            </a:r>
          </a:p>
          <a:p>
            <a:r>
              <a:t>A fresh session reads a few small, curated files instead of dragging a bloated chat history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[~5.5 min · 9:30 – 15:00]</a:t>
            </a:r>
          </a:p>
          <a:p/>
          <a:p>
            <a:r>
              <a:t>PLAIN LANGUAGE</a:t>
            </a:r>
          </a:p>
          <a:p>
            <a:r>
              <a:t>The three verbs work with plain sentences in any agent. Slash commands in prompts/ are optional sugar for tools that support prompt files.</a:t>
            </a:r>
          </a:p>
          <a:p/>
          <a:p>
            <a:r>
              <a:t>1. RECALL — start of a task. Read-only.</a:t>
            </a:r>
          </a:p>
          <a:p>
            <a:r>
              <a:t>The agent inventories chat, L0 to L3 and the code needed to validate claims, states which sources were missing, and returns a briefing that keeps confirmed facts separate from uncertainty and surfaces conflicts instead of flattening them. This is the "think first" step agents usually skip.</a:t>
            </a:r>
          </a:p>
          <a:p/>
          <a:p>
            <a:r>
              <a:t>2. CAPTURE — before any reset or handoff. Append-only.</a:t>
            </a:r>
          </a:p>
          <a:p>
            <a:r>
              <a:t>A raw checkpoint into L0: current state, recent actions, observations, hypotheses, next steps. Deliberately no analysis — it must be cheap so it actually happens.</a:t>
            </a:r>
          </a:p>
          <a:p/>
          <a:p>
            <a:r>
              <a:t>3. CURATE — end of a task. Approval-first.</a:t>
            </a:r>
          </a:p>
          <a:p>
            <a:r>
              <a:t>The agent proposes a plan per file — keep, merge, summarize, promote, archive, delete, reset — with reason and risk, then STOPS. The human decides what becomes durable knowledge.</a:t>
            </a:r>
          </a:p>
          <a:p/>
          <a:p>
            <a:r>
              <a:t>THE LOOP</a:t>
            </a:r>
          </a:p>
          <a:p>
            <a:r>
              <a:t>Each task starts with more trusted knowledge than the previous one.</a:t>
            </a:r>
          </a:p>
          <a:p/>
          <a:p>
            <a:r>
              <a:t>ADOPTION</a:t>
            </a:r>
          </a:p>
          <a:p>
            <a:r>
              <a:t>Copy the folder, add one line to the always-loaded instructions, set two paths. No build, no runtime. Because the model is defined once, there is no drift between tools.</a:t>
            </a:r>
          </a:p>
          <a:p/>
          <a:p>
            <a:r>
              <a:t>CLOSE</a:t>
            </a:r>
          </a:p>
          <a:p>
            <a:r>
              <a:t>Back to the provocative thought: when agents write most of the code, review effort shifts to validating knowledge — decisions, constraints, known failures. memory-kit makes that knowledge explicit and reviewable.</a:t>
            </a:r>
          </a:p>
          <a:p>
            <a:r>
              <a:t>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7067" cy="8229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7067" cy="82296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7067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7067" cy="822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200" b="1" i="0" spc="150">
                <a:solidFill>
                  <a:srgbClr val="1D4E89"/>
                </a:solidFill>
                <a:latin typeface="Segoe U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7729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memory-kit — durable knowledge for AI-assisted coding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memory-kit  ·  Knowledge management when coding with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 /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6517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6858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4000" b="1" i="0">
                <a:solidFill>
                  <a:srgbClr val="E4572E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417320"/>
            <a:ext cx="1691639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500" b="1" i="0">
                <a:solidFill>
                  <a:srgbClr val="0F172A"/>
                </a:solidFill>
                <a:latin typeface="Segoe UI"/>
              </a:rPr>
              <a:t>file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MEMORY.md holds the model, rules and verbs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2378" y="1417320"/>
            <a:ext cx="26517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2378" y="1417320"/>
            <a:ext cx="73152" cy="96012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258" y="1417320"/>
            <a:ext cx="6858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4000" b="1" i="0">
                <a:solidFill>
                  <a:srgbClr val="B7791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058" y="1417320"/>
            <a:ext cx="1691639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500" b="1" i="0">
                <a:solidFill>
                  <a:srgbClr val="0F172A"/>
                </a:solidFill>
                <a:latin typeface="Segoe UI"/>
              </a:rPr>
              <a:t>memory levels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4748B"/>
                </a:solidFill>
                <a:latin typeface="Segoe UI"/>
              </a:rPr>
              <a:t>L0 → L3, from hot/raw to cold/curated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7556" y="1417320"/>
            <a:ext cx="26517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7556" y="1417320"/>
            <a:ext cx="73152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0436" y="1417320"/>
            <a:ext cx="6858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4000" b="1" i="0">
                <a:solidFill>
                  <a:srgbClr val="2A9D8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6236" y="1417320"/>
            <a:ext cx="1691639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500" b="1" i="0">
                <a:solidFill>
                  <a:srgbClr val="0F172A"/>
                </a:solidFill>
                <a:latin typeface="Segoe UI"/>
              </a:rPr>
              <a:t>verbs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4748B"/>
                </a:solidFill>
                <a:latin typeface="Segoe UI"/>
              </a:rPr>
              <a:t>capture · recall · curate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2735" y="1417320"/>
            <a:ext cx="26517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2735" y="1417320"/>
            <a:ext cx="73152" cy="9601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5615" y="1417320"/>
            <a:ext cx="685800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4000" b="1" i="0">
                <a:solidFill>
                  <a:srgbClr val="1D4E89"/>
                </a:solidFill>
                <a:latin typeface="Segoe U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1415" y="1417320"/>
            <a:ext cx="1691639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500" b="1" i="0">
                <a:solidFill>
                  <a:srgbClr val="0F172A"/>
                </a:solidFill>
                <a:latin typeface="Segoe UI"/>
              </a:rPr>
              <a:t>dependencies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64748B"/>
                </a:solidFill>
                <a:latin typeface="Segoe UI"/>
              </a:rPr>
              <a:t>any agent · ~1-minute install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60604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606040"/>
            <a:ext cx="3611880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78892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800" b="1" i="0">
                <a:solidFill>
                  <a:srgbClr val="E4572E"/>
                </a:solidFill>
                <a:latin typeface="Segoe UI"/>
              </a:rPr>
              <a:t>The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64408"/>
            <a:ext cx="324612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Chat sessions grow fast and get noisy while iterating</a:t>
            </a:r>
          </a:p>
          <a:p>
            <a:pPr marL="182880" indent="-182880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Compaction shrinks context — it doesn't keep only what matters</a:t>
            </a:r>
          </a:p>
          <a:p>
            <a:pPr marL="182880" indent="-182880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Agents rush to write code instead of gathering knowledge first</a:t>
            </a:r>
          </a:p>
          <a:p>
            <a:pPr marL="182880" indent="-182880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Every reset loses decisions, dead ends — and 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9907" y="260604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89907" y="2606040"/>
            <a:ext cx="3611880" cy="640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2787" y="278892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800" b="1" i="0">
                <a:solidFill>
                  <a:srgbClr val="1D4E89"/>
                </a:solidFill>
                <a:latin typeface="Segoe UI"/>
              </a:rPr>
              <a:t>The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2787" y="3264408"/>
            <a:ext cx="324612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1D4E89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A 4-level memory: scratchpad → task → module → global docs</a:t>
            </a:r>
          </a:p>
          <a:p>
            <a:pPr marL="182880" indent="-182880">
              <a:spcAft>
                <a:spcPts val="800"/>
              </a:spcAft>
              <a:buClr>
                <a:srgbClr val="1D4E89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Knowledge is promoted only when validated, reusable and stable</a:t>
            </a:r>
          </a:p>
          <a:p>
            <a:pPr marL="182880" indent="-182880">
              <a:spcAft>
                <a:spcPts val="800"/>
              </a:spcAft>
              <a:buClr>
                <a:srgbClr val="1D4E89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Explicit authority: curated docs and running code beat chat</a:t>
            </a:r>
          </a:p>
          <a:p>
            <a:pPr marL="182880" indent="-182880">
              <a:spcAft>
                <a:spcPts val="800"/>
              </a:spcAft>
              <a:buClr>
                <a:srgbClr val="1D4E89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Plain Markdown — works with Copilot, Claude Code, Cursor, Aider…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2615" y="2606040"/>
            <a:ext cx="3611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615" y="2606040"/>
            <a:ext cx="3611880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5495" y="278892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800" b="1" i="0">
                <a:solidFill>
                  <a:srgbClr val="2A9D8F"/>
                </a:solidFill>
                <a:latin typeface="Segoe UI"/>
              </a:rPr>
              <a:t>The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495" y="3264408"/>
            <a:ext cx="324612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Less noise, fewer tokens, faster restarts after a reset</a:t>
            </a:r>
          </a:p>
          <a:p>
            <a:pPr marL="182880" indent="-182880"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Failed approaches are kept, so mistakes aren't repeated</a:t>
            </a:r>
          </a:p>
          <a:p>
            <a:pPr marL="182880" indent="-182880"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A shared, reviewable interface between humans and agents</a:t>
            </a:r>
          </a:p>
          <a:p>
            <a:pPr marL="182880" indent="-182880">
              <a:spcAft>
                <a:spcPts val="800"/>
              </a:spcAft>
              <a:buClr>
                <a:srgbClr val="2A9D8F"/>
              </a:buClr>
              <a:buFont typeface="Arial"/>
              <a:buChar char="•"/>
            </a:pPr>
            <a:r>
              <a:rPr sz="1300" b="0" i="0">
                <a:solidFill>
                  <a:srgbClr val="1E293B"/>
                </a:solidFill>
                <a:latin typeface="Segoe UI"/>
              </a:rPr>
              <a:t>Teams validate knowledge, not only code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50992"/>
            <a:ext cx="11277295" cy="566928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50992"/>
            <a:ext cx="10728655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100" b="1" i="0" spc="150">
                <a:solidFill>
                  <a:srgbClr val="F3A712"/>
                </a:solidFill>
                <a:latin typeface="Segoe UI"/>
              </a:rPr>
              <a:t>PROVOCATIVE THOUGHT     </a:t>
            </a:r>
            <a:r>
              <a:rPr sz="1400" b="0" i="1">
                <a:solidFill>
                  <a:srgbClr val="FFFFFF"/>
                </a:solidFill>
                <a:latin typeface="Segoe UI"/>
              </a:rPr>
              <a:t>“Why spend time reviewing code when you can validate knowledge directly from the memory kit?”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7067" cy="8229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7067" cy="82296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7067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7067" cy="822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200" b="1" i="0" spc="150">
                <a:solidFill>
                  <a:srgbClr val="1D4E89"/>
                </a:solidFill>
                <a:latin typeface="Segoe UI"/>
              </a:rPr>
              <a:t>THE MODEL  ·  L0 → L3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7729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Knowledge flows from hot to cold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memory-kit  ·  Knowledge management when coding with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 / 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" y="1371600"/>
            <a:ext cx="11277295" cy="502920"/>
          </a:xfrm>
          <a:prstGeom prst="rightArrow">
            <a:avLst>
              <a:gd name="adj1" fmla="val 72000"/>
              <a:gd name="adj2" fmla="val 60000"/>
            </a:avLst>
          </a:prstGeom>
          <a:gradFill rotWithShape="1">
            <a:gsLst>
              <a:gs pos="0">
                <a:srgbClr val="E4572E"/>
              </a:gs>
              <a:gs pos="33333">
                <a:srgbClr val="F3A712"/>
              </a:gs>
              <a:gs pos="66666">
                <a:srgbClr val="2A9D8F"/>
              </a:gs>
              <a:gs pos="100000">
                <a:srgbClr val="1D4E8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4572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200" b="1" i="0" spc="80">
                <a:solidFill>
                  <a:srgbClr val="FFFFFF"/>
                </a:solidFill>
                <a:latin typeface="Segoe UI"/>
              </a:rPr>
              <a:t>HOT  ·  raw, cheap to 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371600"/>
            <a:ext cx="45720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200" b="1" i="0" spc="80">
                <a:solidFill>
                  <a:srgbClr val="FFFFFF"/>
                </a:solidFill>
                <a:latin typeface="Segoe UI"/>
              </a:rPr>
              <a:t>COLD  ·  curated, trusted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29968"/>
            <a:ext cx="2651760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29968"/>
            <a:ext cx="2651760" cy="7315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29968"/>
            <a:ext cx="685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L0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029968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Scratchpad</a:t>
            </a:r>
          </a:p>
          <a:p>
            <a:r>
              <a:rPr sz="1100" b="0" i="0">
                <a:solidFill>
                  <a:srgbClr val="FFFFFF"/>
                </a:solidFill>
                <a:latin typeface="Segoe UI"/>
              </a:rPr>
              <a:t>hot · 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79776"/>
            <a:ext cx="2377440" cy="1856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WHERE</a:t>
            </a:r>
          </a:p>
          <a:p>
            <a:r>
              <a:rPr sz="1250" b="1" i="0">
                <a:solidFill>
                  <a:srgbClr val="0F172A"/>
                </a:solidFill>
                <a:latin typeface="Consolas"/>
              </a:rPr>
              <a:t>notes/L0_*.md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(git-ignored)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LIFESPAN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Ephemeral — triage soon or delete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HOLDS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Raw checkpoints: what worked, what failed, errors</a:t>
            </a:r>
          </a:p>
        </p:txBody>
      </p:sp>
      <p:sp>
        <p:nvSpPr>
          <p:cNvPr id="19" name="Chevron 18"/>
          <p:cNvSpPr/>
          <p:nvPr/>
        </p:nvSpPr>
        <p:spPr>
          <a:xfrm>
            <a:off x="3147517" y="2258568"/>
            <a:ext cx="146304" cy="27432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2378" y="2029968"/>
            <a:ext cx="2651760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2378" y="2029968"/>
            <a:ext cx="2651760" cy="731520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9538" y="2029968"/>
            <a:ext cx="685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800" b="1" i="0">
                <a:solidFill>
                  <a:srgbClr val="0F172A"/>
                </a:solidFill>
                <a:latin typeface="Segoe UI"/>
              </a:rPr>
              <a:t>L1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9618" y="2029968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600" b="1" i="0">
                <a:solidFill>
                  <a:srgbClr val="0F172A"/>
                </a:solidFill>
                <a:latin typeface="Segoe UI"/>
              </a:rPr>
              <a:t>Task memory</a:t>
            </a:r>
          </a:p>
          <a:p>
            <a:r>
              <a:rPr sz="1100" b="0" i="0">
                <a:solidFill>
                  <a:srgbClr val="0F172A"/>
                </a:solidFill>
                <a:latin typeface="Segoe UI"/>
              </a:rPr>
              <a:t>warm ·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9538" y="2779776"/>
            <a:ext cx="2377440" cy="1856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WHERE</a:t>
            </a:r>
          </a:p>
          <a:p>
            <a:r>
              <a:rPr sz="1250" b="1" i="0">
                <a:solidFill>
                  <a:srgbClr val="0F172A"/>
                </a:solidFill>
                <a:latin typeface="Consolas"/>
              </a:rPr>
              <a:t>notes/L1_*.md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/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LIFESPAN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Per task — cleaned at task end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HOLDS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Working signal and decisions for the current task</a:t>
            </a:r>
          </a:p>
        </p:txBody>
      </p:sp>
      <p:sp>
        <p:nvSpPr>
          <p:cNvPr id="25" name="Chevron 24"/>
          <p:cNvSpPr/>
          <p:nvPr/>
        </p:nvSpPr>
        <p:spPr>
          <a:xfrm>
            <a:off x="6022695" y="2258568"/>
            <a:ext cx="146304" cy="27432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7556" y="2029968"/>
            <a:ext cx="2651760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7556" y="2029968"/>
            <a:ext cx="2651760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4716" y="2029968"/>
            <a:ext cx="685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L2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4796" y="2029968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Module memory</a:t>
            </a:r>
          </a:p>
          <a:p>
            <a:r>
              <a:rPr sz="1100" b="0" i="0">
                <a:solidFill>
                  <a:srgbClr val="FFFFFF"/>
                </a:solidFill>
                <a:latin typeface="Segoe UI"/>
              </a:rPr>
              <a:t>cool · stable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4716" y="2779776"/>
            <a:ext cx="2377440" cy="1856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WHERE</a:t>
            </a:r>
          </a:p>
          <a:p>
            <a:r>
              <a:rPr sz="1250" b="1" i="0">
                <a:solidFill>
                  <a:srgbClr val="0F172A"/>
                </a:solidFill>
                <a:latin typeface="Consolas"/>
              </a:rPr>
              <a:t>L2_*.md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beside the code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LIFESPAN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Durable, module-scoped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HOLDS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Module lessons and known failures (anti-patterns)</a:t>
            </a:r>
          </a:p>
        </p:txBody>
      </p:sp>
      <p:sp>
        <p:nvSpPr>
          <p:cNvPr id="31" name="Chevron 30"/>
          <p:cNvSpPr/>
          <p:nvPr/>
        </p:nvSpPr>
        <p:spPr>
          <a:xfrm>
            <a:off x="8897874" y="2258568"/>
            <a:ext cx="146304" cy="274320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2735" y="2029968"/>
            <a:ext cx="2651760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82735" y="2029968"/>
            <a:ext cx="2651760" cy="73152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9895" y="2029968"/>
            <a:ext cx="685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9975" y="2029968"/>
            <a:ext cx="182880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Global memory</a:t>
            </a:r>
          </a:p>
          <a:p>
            <a:r>
              <a:rPr sz="1100" b="0" i="0">
                <a:solidFill>
                  <a:srgbClr val="FFFFFF"/>
                </a:solidFill>
                <a:latin typeface="Segoe UI"/>
              </a:rPr>
              <a:t>cold · curated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9895" y="2779776"/>
            <a:ext cx="2377440" cy="1856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WHERE</a:t>
            </a:r>
          </a:p>
          <a:p>
            <a:r>
              <a:rPr sz="1250" b="1" i="0">
                <a:solidFill>
                  <a:srgbClr val="0F172A"/>
                </a:solidFill>
                <a:latin typeface="Consolas"/>
              </a:rPr>
              <a:t>docs/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(Markdown or HTML)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LIFESPAN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Durable, cross-cutting</a:t>
            </a:r>
          </a:p>
          <a:p>
            <a:pPr>
              <a:spcBef>
                <a:spcPts val="1000"/>
              </a:spcBef>
            </a:pPr>
            <a:r>
              <a:rPr sz="950" b="1" i="0" spc="100">
                <a:solidFill>
                  <a:srgbClr val="64748B"/>
                </a:solidFill>
                <a:latin typeface="Segoe UI"/>
              </a:rPr>
              <a:t>HOLDS</a:t>
            </a:r>
          </a:p>
          <a:p>
            <a:r>
              <a:rPr sz="1250" b="0" i="0">
                <a:solidFill>
                  <a:srgbClr val="1E293B"/>
                </a:solidFill>
                <a:latin typeface="Segoe UI"/>
              </a:rPr>
              <a:t>Project truths: architecture, conventions,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64608"/>
            <a:ext cx="3611880" cy="1399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864608"/>
            <a:ext cx="64008" cy="1399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89907" y="4864608"/>
            <a:ext cx="3611880" cy="1399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89907" y="4864608"/>
            <a:ext cx="64008" cy="139903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2615" y="4864608"/>
            <a:ext cx="3611880" cy="1399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2615" y="4864608"/>
            <a:ext cx="64008" cy="139903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5604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400" b="1" i="0">
                <a:solidFill>
                  <a:srgbClr val="0F172A"/>
                </a:solidFill>
                <a:latin typeface="Segoe UI"/>
              </a:rPr>
              <a:t>Promotion must be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303520"/>
            <a:ext cx="324612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marL="182880" indent="-182880">
              <a:spcAft>
                <a:spcPts val="1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Validated by usage or current code</a:t>
            </a:r>
          </a:p>
          <a:p>
            <a:pPr marL="182880" indent="-182880">
              <a:spcAft>
                <a:spcPts val="1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Reusable beyond one case</a:t>
            </a:r>
          </a:p>
          <a:p>
            <a:pPr marL="182880" indent="-182880">
              <a:spcAft>
                <a:spcPts val="1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Stable enough to survive a reset</a:t>
            </a:r>
          </a:p>
          <a:p>
            <a:pPr marL="182880" indent="-182880">
              <a:spcAft>
                <a:spcPts val="1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Not contradicted by higher authority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2787" y="495604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400" b="1" i="0">
                <a:solidFill>
                  <a:srgbClr val="0F172A"/>
                </a:solidFill>
                <a:latin typeface="Segoe UI"/>
              </a:rPr>
              <a:t>Authority on conflict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2787" y="5321808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5707" y="532180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Segoe UI"/>
              </a:rPr>
              <a:t>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58587" y="5321808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1507" y="532180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Segoe UI"/>
              </a:rP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4387" y="5321808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0F172A"/>
                </a:solidFill>
                <a:latin typeface="Segoe UI"/>
              </a:rPr>
              <a:t>L1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7307" y="532180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Segoe UI"/>
              </a:rP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0187" y="5321808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33107" y="5321808"/>
            <a:ext cx="182880" cy="292608"/>
          </a:xfrm>
          <a:prstGeom prst="rect">
            <a:avLst/>
          </a:prstGeom>
          <a:noFill/>
        </p:spPr>
        <p:txBody>
          <a:bodyPr wrap="square" anchor="ctr" lIns="0" rIns="0" tIns="18288" bIns="18288">
            <a:no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  <a:latin typeface="Segoe UI"/>
              </a:rPr>
              <a:t>&gt;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15987" y="5321808"/>
            <a:ext cx="502920" cy="292608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Chat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2787" y="5687568"/>
            <a:ext cx="32461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100" b="0" i="0">
                <a:solidFill>
                  <a:srgbClr val="1E293B"/>
                </a:solidFill>
                <a:latin typeface="Segoe UI"/>
              </a:rPr>
              <a:t>Chat is never authoritative until validated. Docs and code disagree? Trust the running code.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5495" y="495604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400" b="1" i="0">
                <a:solidFill>
                  <a:srgbClr val="0F172A"/>
                </a:solidFill>
                <a:latin typeface="Segoe UI"/>
              </a:rPr>
              <a:t>Cleanup over accumulation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5495" y="5303520"/>
            <a:ext cx="3246120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E4572E"/>
                </a:solidFill>
                <a:latin typeface="Consolas"/>
              </a:rPr>
              <a:t>keep · merge · summarize · promote · archive · delete · reset</a:t>
            </a:r>
          </a:p>
          <a:p>
            <a:r>
              <a:rPr sz="1100" b="0" i="0">
                <a:solidFill>
                  <a:srgbClr val="1E293B"/>
                </a:solidFill>
                <a:latin typeface="Segoe UI"/>
              </a:rPr>
              <a:t>Low-signal notes are liabilities. Anti-patterns are relocated to L2/L3 — never silently deleted.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57067" cy="82296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57067" cy="82296"/>
          </a:xfrm>
          <a:prstGeom prst="rect">
            <a:avLst/>
          </a:prstGeom>
          <a:solidFill>
            <a:srgbClr val="F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57067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57067" cy="822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200" b="1" i="0" spc="150">
                <a:solidFill>
                  <a:srgbClr val="1D4E89"/>
                </a:solidFill>
                <a:latin typeface="Segoe UI"/>
              </a:rPr>
              <a:t>THE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7729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3000" b="1" i="0">
                <a:solidFill>
                  <a:srgbClr val="0F172A"/>
                </a:solidFill>
                <a:latin typeface="Segoe UI"/>
              </a:rPr>
              <a:t>Three verbs, one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000" b="0" i="0">
                <a:solidFill>
                  <a:srgbClr val="64748B"/>
                </a:solidFill>
                <a:latin typeface="Segoe UI"/>
              </a:rPr>
              <a:t>memory-kit  ·  Knowledge management when coding with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3 /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520440" cy="86868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3154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000" b="0" i="0">
                <a:solidFill>
                  <a:srgbClr val="FFFFFF"/>
                </a:solidFill>
                <a:latin typeface="Segoe UI"/>
              </a:rPr>
              <a:t>1   </a:t>
            </a:r>
            <a:r>
              <a:rPr sz="2200" b="1" i="0" spc="100">
                <a:solidFill>
                  <a:srgbClr val="FFFFFF"/>
                </a:solidFill>
                <a:latin typeface="Segoe UI"/>
              </a:rPr>
              <a:t>RECALL</a:t>
            </a:r>
          </a:p>
          <a:p>
            <a:r>
              <a:rPr sz="1200" b="0" i="1">
                <a:solidFill>
                  <a:srgbClr val="FFFFFF"/>
                </a:solidFill>
                <a:latin typeface="Segoe UI"/>
              </a:rPr>
              <a:t>“What do we already know about X?”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59152"/>
            <a:ext cx="3154680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900" b="1" i="0" spc="100">
                <a:solidFill>
                  <a:srgbClr val="64748B"/>
                </a:solidFill>
                <a:latin typeface="Segoe UI"/>
              </a:rPr>
              <a:t>WHEN   </a:t>
            </a:r>
            <a:r>
              <a:rPr sz="1150" b="0" i="0">
                <a:solidFill>
                  <a:srgbClr val="1E293B"/>
                </a:solidFill>
                <a:latin typeface="Segoe UI"/>
              </a:rPr>
              <a:t>Start of a task · after a reset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WRITES   </a:t>
            </a:r>
            <a:r>
              <a:rPr sz="1150" b="1" i="0">
                <a:solidFill>
                  <a:srgbClr val="1D4E89"/>
                </a:solidFill>
                <a:latin typeface="Segoe UI"/>
              </a:rPr>
              <a:t>Nothing — read-only</a:t>
            </a:r>
          </a:p>
          <a:p>
            <a:pPr marL="182880" indent="-182880">
              <a:spcAft>
                <a:spcPts val="400"/>
              </a:spcAft>
              <a:buClr>
                <a:srgbClr val="1D4E8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Reads chat, L0 → L3 and the code</a:t>
            </a:r>
          </a:p>
          <a:p>
            <a:pPr marL="182880" indent="-182880">
              <a:spcAft>
                <a:spcPts val="400"/>
              </a:spcAft>
              <a:buClr>
                <a:srgbClr val="1D4E8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Flags missing sources, lowers confidence</a:t>
            </a:r>
          </a:p>
          <a:p>
            <a:pPr marL="182880" indent="-182880">
              <a:spcAft>
                <a:spcPts val="400"/>
              </a:spcAft>
              <a:buClr>
                <a:srgbClr val="1D4E89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Briefing: facts vs. uncertainty, failed paths, drift, 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79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150" b="0" i="0">
                <a:solidFill>
                  <a:srgbClr val="64748B"/>
                </a:solidFill>
                <a:latin typeface="Consolas"/>
              </a:rPr>
              <a:t>/mem-recall &lt;topic&gt;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28617" y="2766060"/>
            <a:ext cx="25603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5627" y="137160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5627" y="1371600"/>
            <a:ext cx="3520440" cy="8686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8507" y="1417320"/>
            <a:ext cx="3154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000" b="0" i="0">
                <a:solidFill>
                  <a:srgbClr val="FFFFFF"/>
                </a:solidFill>
                <a:latin typeface="Segoe UI"/>
              </a:rPr>
              <a:t>2   </a:t>
            </a:r>
            <a:r>
              <a:rPr sz="2200" b="1" i="0" spc="100">
                <a:solidFill>
                  <a:srgbClr val="FFFFFF"/>
                </a:solidFill>
                <a:latin typeface="Segoe UI"/>
              </a:rPr>
              <a:t>CAPTURE</a:t>
            </a:r>
          </a:p>
          <a:p>
            <a:r>
              <a:rPr sz="1200" b="0" i="1">
                <a:solidFill>
                  <a:srgbClr val="FFFFFF"/>
                </a:solidFill>
                <a:latin typeface="Segoe UI"/>
              </a:rPr>
              <a:t>“Save the context before we reset.”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8507" y="2359152"/>
            <a:ext cx="3154680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900" b="1" i="0" spc="100">
                <a:solidFill>
                  <a:srgbClr val="64748B"/>
                </a:solidFill>
                <a:latin typeface="Segoe UI"/>
              </a:rPr>
              <a:t>WHEN   </a:t>
            </a:r>
            <a:r>
              <a:rPr sz="1150" b="0" i="0">
                <a:solidFill>
                  <a:srgbClr val="1E293B"/>
                </a:solidFill>
                <a:latin typeface="Segoe UI"/>
              </a:rPr>
              <a:t>Before a reset · checkpoint · handoff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WRITES   </a:t>
            </a:r>
            <a:r>
              <a:rPr sz="1150" b="1" i="0">
                <a:solidFill>
                  <a:srgbClr val="E4572E"/>
                </a:solidFill>
                <a:latin typeface="Segoe UI"/>
              </a:rPr>
              <a:t>Appends to L0 only</a:t>
            </a:r>
          </a:p>
          <a:p>
            <a:pPr marL="182880" indent="-182880">
              <a:spcAft>
                <a:spcPts val="400"/>
              </a:spcAft>
              <a:buClr>
                <a:srgbClr val="E4572E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Raw checkpoint: state, actions, observations, hypotheses, next steps</a:t>
            </a:r>
          </a:p>
          <a:p>
            <a:pPr marL="182880" indent="-182880">
              <a:spcAft>
                <a:spcPts val="400"/>
              </a:spcAft>
              <a:buClr>
                <a:srgbClr val="E4572E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No analysis, no cleanup, no promotion</a:t>
            </a:r>
          </a:p>
          <a:p>
            <a:pPr marL="182880" indent="-182880">
              <a:spcAft>
                <a:spcPts val="400"/>
              </a:spcAft>
              <a:buClr>
                <a:srgbClr val="E4572E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Contradictions kept as-is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507" y="4069079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150" b="0" i="0">
                <a:solidFill>
                  <a:srgbClr val="64748B"/>
                </a:solidFill>
                <a:latin typeface="Consolas"/>
              </a:rPr>
              <a:t>/mem-capture &lt;topic&gt;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7045" y="2766060"/>
            <a:ext cx="25603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4055" y="137160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14055" y="1371600"/>
            <a:ext cx="3520440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6935" y="1417320"/>
            <a:ext cx="31546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r>
              <a:rPr sz="2000" b="0" i="0">
                <a:solidFill>
                  <a:srgbClr val="FFFFFF"/>
                </a:solidFill>
                <a:latin typeface="Segoe UI"/>
              </a:rPr>
              <a:t>3   </a:t>
            </a:r>
            <a:r>
              <a:rPr sz="2200" b="1" i="0" spc="100">
                <a:solidFill>
                  <a:srgbClr val="FFFFFF"/>
                </a:solidFill>
                <a:latin typeface="Segoe UI"/>
              </a:rPr>
              <a:t>CURATE</a:t>
            </a:r>
          </a:p>
          <a:p>
            <a:r>
              <a:rPr sz="1200" b="0" i="1">
                <a:solidFill>
                  <a:srgbClr val="FFFFFF"/>
                </a:solidFill>
                <a:latin typeface="Segoe UI"/>
              </a:rPr>
              <a:t>“Clean up and promote the useful notes.”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935" y="2359152"/>
            <a:ext cx="3154680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900" b="1" i="0" spc="100">
                <a:solidFill>
                  <a:srgbClr val="64748B"/>
                </a:solidFill>
                <a:latin typeface="Segoe UI"/>
              </a:rPr>
              <a:t>WHEN   </a:t>
            </a:r>
            <a:r>
              <a:rPr sz="1150" b="0" i="0">
                <a:solidFill>
                  <a:srgbClr val="1E293B"/>
                </a:solidFill>
                <a:latin typeface="Segoe UI"/>
              </a:rPr>
              <a:t>End of a task · notes piling up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WRITES   </a:t>
            </a:r>
            <a:r>
              <a:rPr sz="1150" b="1" i="0">
                <a:solidFill>
                  <a:srgbClr val="2A9D8F"/>
                </a:solidFill>
                <a:latin typeface="Segoe UI"/>
              </a:rPr>
              <a:t>Only after your approval</a:t>
            </a:r>
          </a:p>
          <a:p>
            <a:pPr marL="182880" indent="-182880">
              <a:spcAft>
                <a:spcPts val="4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Detects drift, duplicates, stale notes</a:t>
            </a:r>
          </a:p>
          <a:p>
            <a:pPr marL="182880" indent="-182880">
              <a:spcAft>
                <a:spcPts val="4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Plans per file: action · reason · risk</a:t>
            </a:r>
          </a:p>
          <a:p>
            <a:pPr marL="182880" indent="-182880">
              <a:spcAft>
                <a:spcPts val="400"/>
              </a:spcAft>
              <a:buClr>
                <a:srgbClr val="2A9D8F"/>
              </a:buClr>
              <a:buFont typeface="Arial"/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STOPS for approval, then executes and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6935" y="4069079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150" b="0" i="0">
                <a:solidFill>
                  <a:srgbClr val="64748B"/>
                </a:solidFill>
                <a:latin typeface="Consolas"/>
              </a:rPr>
              <a:t>/mem-curate &lt;scope&gt;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11277295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11277295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000" b="1" i="0" spc="100">
                <a:solidFill>
                  <a:srgbClr val="64748B"/>
                </a:solidFill>
                <a:latin typeface="Segoe UI"/>
              </a:rPr>
              <a:t>THE LOOP     </a:t>
            </a:r>
            <a:r>
              <a:rPr sz="1200" b="1" i="0">
                <a:solidFill>
                  <a:srgbClr val="1D4E89"/>
                </a:solidFill>
                <a:latin typeface="Segoe UI"/>
              </a:rPr>
              <a:t>RECALL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 at start  →  code with the agent  →  </a:t>
            </a:r>
            <a:r>
              <a:rPr sz="1200" b="1" i="0">
                <a:solidFill>
                  <a:srgbClr val="E4572E"/>
                </a:solidFill>
                <a:latin typeface="Segoe UI"/>
              </a:rPr>
              <a:t>CAPTURE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 before resets  →  </a:t>
            </a:r>
            <a:r>
              <a:rPr sz="1200" b="1" i="0">
                <a:solidFill>
                  <a:srgbClr val="2A9D8F"/>
                </a:solidFill>
                <a:latin typeface="Segoe UI"/>
              </a:rPr>
              <a:t>CURATE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 at task end  →  next task starts smarter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5501487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64008" cy="1170432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5120640"/>
            <a:ext cx="5501487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5120640"/>
            <a:ext cx="64008" cy="117043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93792"/>
            <a:ext cx="5135727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300" b="1" i="0">
                <a:solidFill>
                  <a:srgbClr val="0F172A"/>
                </a:solidFill>
                <a:latin typeface="Segoe UI"/>
              </a:rPr>
              <a:t>Adopt in ~1 minute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 ·   no build, no dependencies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04688"/>
            <a:ext cx="5135727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D4E89"/>
                </a:solidFill>
                <a:latin typeface="Segoe UI"/>
              </a:rPr>
              <a:t>1   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Copy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memory-kit/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 into the repo (root or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.github/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 b="1" i="0">
                <a:solidFill>
                  <a:srgbClr val="1D4E89"/>
                </a:solidFill>
                <a:latin typeface="Segoe UI"/>
              </a:rPr>
              <a:t>2   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Add one line to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AGENTS.md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,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CLAUDE.md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,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copilot-instructions.md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 or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.cursorrules</a:t>
            </a:r>
            <a:r>
              <a:rPr sz="1100" b="0" i="1">
                <a:solidFill>
                  <a:srgbClr val="1E293B"/>
                </a:solidFill>
                <a:latin typeface="Segoe UI"/>
              </a:rPr>
              <a:t>: “Follow the memory convention in memory-kit/MEMORY.md.”</a:t>
            </a:r>
          </a:p>
          <a:p>
            <a:r>
              <a:rPr sz="1100" b="1" i="0">
                <a:solidFill>
                  <a:srgbClr val="1D4E89"/>
                </a:solidFill>
                <a:latin typeface="Segoe UI"/>
              </a:rPr>
              <a:t>3   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Set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&lt;notes-dir&gt;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 and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&lt;docs-dir&gt;</a:t>
            </a:r>
            <a:r>
              <a:rPr sz="1100" b="0" i="0">
                <a:solidFill>
                  <a:srgbClr val="1E293B"/>
                </a:solidFill>
                <a:latin typeface="Segoe UI"/>
              </a:rPr>
              <a:t>; git-ignore </a:t>
            </a:r>
            <a:r>
              <a:rPr sz="1050" b="0" i="0">
                <a:solidFill>
                  <a:srgbClr val="0F172A"/>
                </a:solidFill>
                <a:latin typeface="Consolas"/>
              </a:rPr>
              <a:t>notes/L0_*.md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5193792"/>
            <a:ext cx="5135727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r>
              <a:rPr sz="1300" b="1" i="0">
                <a:solidFill>
                  <a:srgbClr val="0F172A"/>
                </a:solidFill>
                <a:latin typeface="Segoe UI"/>
              </a:rPr>
              <a:t>Built-in guardrails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5504688"/>
            <a:ext cx="5135727" cy="7589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marL="182880" indent="-182880">
              <a:spcAft>
                <a:spcPts val="100"/>
              </a:spcAft>
              <a:buClr>
                <a:srgbClr val="E4572E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RECALL is read-only  ·  CAPTURE is capture-only  ·  CURATE is approval-first</a:t>
            </a:r>
          </a:p>
          <a:p>
            <a:pPr marL="182880" indent="-182880">
              <a:spcAft>
                <a:spcPts val="100"/>
              </a:spcAft>
              <a:buClr>
                <a:srgbClr val="E4572E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  <a:latin typeface="Segoe UI"/>
              </a:rPr>
              <a:t>Lower-authority memory never overwrites higher-authority memory</a:t>
            </a:r>
          </a:p>
          <a:p>
            <a:pPr marL="182880" indent="-182880">
              <a:spcAft>
                <a:spcPts val="100"/>
              </a:spcAft>
              <a:buClr>
                <a:srgbClr val="E4572E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  <a:latin typeface="Segoe UI"/>
              </a:rPr>
              <a:t>Anti-patterns are relocated, never silently deleted</a:t>
            </a:r>
          </a:p>
          <a:p>
            <a:pPr marL="182880" indent="-182880">
              <a:spcAft>
                <a:spcPts val="100"/>
              </a:spcAft>
              <a:buClr>
                <a:srgbClr val="E4572E"/>
              </a:buClr>
              <a:buFont typeface="Arial"/>
              <a:buChar char="•"/>
            </a:pPr>
            <a:r>
              <a:rPr sz="1100" b="0" i="0">
                <a:solidFill>
                  <a:srgbClr val="1E293B"/>
                </a:solidFill>
                <a:latin typeface="Segoe UI"/>
              </a:rPr>
              <a:t>Missing sources are declared — coverage is never fabricated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memory-kit — Knowledge management when coding with agents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